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1554480"/>
            <a:ext cx="737006" cy="-340157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554480"/>
            <a:ext cx="737006" cy="39685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1086" y="1214323"/>
            <a:ext cx="793699" cy="39685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21086" y="1951330"/>
            <a:ext cx="793699" cy="-340157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21086" y="1214323"/>
            <a:ext cx="737006" cy="-283464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21086" y="1951330"/>
            <a:ext cx="-623621" cy="39685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1554480"/>
            <a:ext cx="-680314" cy="283464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7776" y="1408176"/>
            <a:ext cx="292608" cy="292608"/>
          </a:xfrm>
          <a:prstGeom prst="ellipse">
            <a:avLst/>
          </a:prstGeom>
          <a:solidFill>
            <a:srgbClr val="FFB100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38790" y="1132027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38790" y="186903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32490" y="1528877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75797" y="848563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5170" y="2265883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21470" y="1755648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4206240"/>
            <a:ext cx="594360" cy="-27432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0" y="4206240"/>
            <a:ext cx="59436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01400" y="3931920"/>
            <a:ext cx="64008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01400" y="4526280"/>
            <a:ext cx="640080" cy="-27432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01400" y="3931920"/>
            <a:ext cx="594360" cy="-22860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01400" y="4526280"/>
            <a:ext cx="-50292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4206240"/>
            <a:ext cx="-548640" cy="22860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60736" y="4059936"/>
            <a:ext cx="292608" cy="292608"/>
          </a:xfrm>
          <a:prstGeom prst="ellipse">
            <a:avLst/>
          </a:prstGeom>
          <a:solidFill>
            <a:srgbClr val="5B84A6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19104" y="38496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19104" y="444398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9184" y="416966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13464" y="36210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16184" y="47640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76104" y="435254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PROPOSAL   ·   PROJECT REVIEW 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1508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INTERFOG</a:t>
            </a:r>
            <a:endParaRPr lang="en-US" sz="6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26974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C6D6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Availability-Aware Fog Orchestration for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C6D6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Intermittently Powered Energy-Harvesting Nodes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22960" y="3794760"/>
            <a:ext cx="502920" cy="41148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4023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an intermittently powered fog node will remain available long enough to finish a task — and orchestrating execution, checkpointing, migration, or delay accordingly.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coverage: 2024–2026        Web-verified: 09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current condition to future survival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fog/edge schedulers decide from current latency, utilization, battery level, or predicted energy. Intermittent-computing systems must also cope with a node losing power before a computation finishes.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treats future node availability as a stochastic quantity — estimating the probability that a node remains operational for the time a task needs — and uses that probability as a primary reliability objective alongside deadline, energy, communication, migration, and checkpoint constraints.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research-plus-engineering system: Docker/K3s virtual fog nodes (optionally with physical low-power devices), MQTT telemetry, Python-based modeling, and controlled energy traces.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60920" y="1645920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EBF0F4"/>
          </a:solidFill>
          <a:ln/>
          <a:effectLst>
            <a:outerShdw sx="100000" sy="100000" kx="0" ky="0" algn="bl" rotWithShape="0" blurRad="76200" dist="25400" dir="5400000">
              <a:srgbClr val="9AAEC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35240" y="175564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823960" y="18105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reviewed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(2024–2026)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3182112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EBF0F4"/>
          </a:solidFill>
          <a:ln/>
          <a:effectLst>
            <a:outerShdw sx="100000" sy="100000" kx="0" ky="0" algn="bl" rotWithShape="0" blurRad="76200" dist="25400" dir="5400000">
              <a:srgbClr val="9AAEC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35240" y="3291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823960" y="334670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classes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as baselines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60920" y="4718304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EBF0F4"/>
          </a:solidFill>
          <a:ln/>
          <a:effectLst>
            <a:outerShdw sx="100000" sy="100000" kx="0" ky="0" algn="bl" rotWithShape="0" blurRad="76200" dist="25400" dir="5400000">
              <a:srgbClr val="9AAEC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35240" y="482803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488289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(S1–S7)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 most schedulers still make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and edge computing place computation closer to data sources — attractive for latency-sensitive IoT workloads. But most scheduling models assume compute nodes remain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available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execution.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Energy-harvesting systems violate that assumption: solar, RF, and vibration sources fluctuate; batteries or capacitors deplete; a computation may be interrupted before completion.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1630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1596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execution strategy gives this task the highest probability of successful completion before its deadline, given that fog-node availability itself is uncertain because of intermittent harvested energy?”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1331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INTERFOG ADDS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286000"/>
            <a:ext cx="4297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Energy-harvesting edge scheduling is already an active field — reliability-aware offloading, energy-aware serverless scheduling, and intermittent checkpointing all exist [R1–R20].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not “energy-aware scheduling” in general — it is a specific mechanism where probability of surviving an interruption becomes a first-class scheduling signal.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chooses among execute, delay, checkpoint-and-migrate, replicate, or cloud fallback — driven by completion probability under real constraints.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22405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one decision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EBF0F4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52194"/>
            <a:ext cx="292608" cy="292608"/>
          </a:xfrm>
          <a:prstGeom prst="ellipse">
            <a:avLst/>
          </a:prstGeom>
          <a:solidFill>
            <a:srgbClr val="5B84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5521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/ IoT layer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444752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sensing/application tasks; may itself be intermittently powered.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3945636" y="1961388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07692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EBF0F4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2242566"/>
            <a:ext cx="292608" cy="292608"/>
          </a:xfrm>
          <a:prstGeom prst="ellipse">
            <a:avLst/>
          </a:prstGeom>
          <a:solidFill>
            <a:srgbClr val="5B84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2425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1534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Fog-node layer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135124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 with heterogeneous energy, CPU, memory, network.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945636" y="2651760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798064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EBF0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2932938"/>
            <a:ext cx="292608" cy="292608"/>
          </a:xfrm>
          <a:prstGeom prst="ellipse">
            <a:avLst/>
          </a:prstGeom>
          <a:solidFill>
            <a:srgbClr val="5B84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29329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layer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825496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state, harvesting rate, utilization, queue length, power-cycle history.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3945636" y="3342132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488436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0F2544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" y="3623310"/>
            <a:ext cx="292608" cy="29260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" y="36233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5341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availability model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515868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energy trajectories to a probability of remaining operational.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3945636" y="4032504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178808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0F25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" y="4313682"/>
            <a:ext cx="292608" cy="292608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" y="43136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scheduler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4206240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completion probability against latency, energy, deadline, cost.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5400000">
            <a:off x="3945636" y="4722876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869180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EBF0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5004054"/>
            <a:ext cx="292608" cy="292608"/>
          </a:xfrm>
          <a:prstGeom prst="ellipse">
            <a:avLst/>
          </a:prstGeom>
          <a:solidFill>
            <a:srgbClr val="5B84A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" y="5004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9149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/ migration manager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840480" y="4896612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progress; moves work before predicted depletion.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rot="5400000">
            <a:off x="3945636" y="5413248"/>
            <a:ext cx="109728" cy="109728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559552"/>
            <a:ext cx="6903720" cy="562356"/>
          </a:xfrm>
          <a:prstGeom prst="roundRect">
            <a:avLst>
              <a:gd name="adj" fmla="val 9756"/>
            </a:avLst>
          </a:prstGeom>
          <a:solidFill>
            <a:srgbClr val="EBF0F4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44" y="5694426"/>
            <a:ext cx="292608" cy="292608"/>
          </a:xfrm>
          <a:prstGeom prst="ellipse">
            <a:avLst/>
          </a:prstGeom>
          <a:solidFill>
            <a:srgbClr val="5B84A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" y="56944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" y="5605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fallback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840480" y="5586984"/>
            <a:ext cx="3520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tier when fog completion probability is inadequate.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18120" y="1417320"/>
            <a:ext cx="3840480" cy="4892040"/>
          </a:xfrm>
          <a:prstGeom prst="roundRect">
            <a:avLst>
              <a:gd name="adj" fmla="val 1905"/>
            </a:avLst>
          </a:prstGeom>
          <a:solidFill>
            <a:srgbClr val="0F254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keeps three concerns distinct: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92440" y="2587752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366760" y="2450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collection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366760" y="2724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 from every node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92440" y="3300984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366760" y="31638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estimation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366760" y="3438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→ survival probability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92440" y="4014216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3667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decisions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366760" y="41513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 execution strategy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092440" y="4745736"/>
            <a:ext cx="3246120" cy="0"/>
          </a:xfrm>
          <a:prstGeom prst="line">
            <a:avLst/>
          </a:prstGeom>
          <a:noFill/>
          <a:ln w="12700">
            <a:solidFill>
              <a:srgbClr val="27476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92440" y="4901184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excellent current latency but high interruption risk can be rejected in favor of a slightly slower, far more reliable one.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decision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1452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7172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67916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7" name="Shape 5"/>
          <p:cNvSpPr/>
          <p:nvPr/>
        </p:nvSpPr>
        <p:spPr>
          <a:xfrm>
            <a:off x="2223364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9084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49828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0" name="Shape 8"/>
          <p:cNvSpPr/>
          <p:nvPr/>
        </p:nvSpPr>
        <p:spPr>
          <a:xfrm>
            <a:off x="3805276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50996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31740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87188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FFB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32908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3652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69100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14820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95564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19" name="Shape 17"/>
          <p:cNvSpPr/>
          <p:nvPr/>
        </p:nvSpPr>
        <p:spPr>
          <a:xfrm>
            <a:off x="8551012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6732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77476" y="2144268"/>
            <a:ext cx="146304" cy="146304"/>
          </a:xfrm>
          <a:prstGeom prst="rightArrow">
            <a:avLst/>
          </a:prstGeom>
          <a:solidFill>
            <a:srgbClr val="5B84A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2924" y="16916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0F25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78644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38732" y="2971800"/>
            <a:ext cx="8714232" cy="0"/>
          </a:xfrm>
          <a:prstGeom prst="line">
            <a:avLst/>
          </a:prstGeom>
          <a:noFill/>
          <a:ln w="19050">
            <a:solidFill>
              <a:srgbClr val="70808F"/>
            </a:solidFill>
            <a:prstDash val="dash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738732" y="3035808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 to calibrate the availability model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977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decision logic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434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incoming task, INTERFOG estimates execution duration and energy requirement, predicts each candidate node's future energy state, and converts that into an availability probability.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excellent current latency but a high probability of power interruption may be rejected in favor of a slower node with a much higher completion probability.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397764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EBF0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9516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DECISION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95160" y="4553712"/>
            <a:ext cx="4389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45537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Fog-1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5537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20 ms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P(completion) = 0.42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95160" y="5239512"/>
            <a:ext cx="4389120" cy="566928"/>
          </a:xfrm>
          <a:prstGeom prst="roundRect">
            <a:avLst>
              <a:gd name="adj" fmla="val 8065"/>
            </a:avLst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8040" y="5239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Fog-2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52395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31 ms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52395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P(completion) = 0.91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5943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selects Fog-2: the higher completion probability outweighs the latency penalty.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papers, 2024–2026 — where INTERFOG sits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EBF0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reliability, QoS placement, autonomous scheduling, UAV-MEC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EBF0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3619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checkpointing, mixed-criticality, serverless energy-awareness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611880" cy="1234440"/>
          </a:xfrm>
          <a:prstGeom prst="roundRect">
            <a:avLst>
              <a:gd name="adj" fmla="val 5185"/>
            </a:avLst>
          </a:prstGeom>
          <a:solidFill>
            <a:srgbClr val="EBF0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153619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checkpointing, batteryless design, D2D offloading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109960" cy="233172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480560"/>
                <a:gridCol w="52578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Gap relative to INTERFOG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3A4A"/>
                          </a:solidFill>
                        </a:rPr>
                        <a:t>R1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Joint delay/reliability-aware EH-MEC offloading &amp; scheduling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Close work — INTERFOG makes survival probability a first-class signal + checkpoint/migration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3A4A"/>
                          </a:solidFill>
                        </a:rPr>
                        <a:t>R7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EDF + energy/timing-aware checkpoint selection (single-core)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Single-node, not distributed fog orchestration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3A4A"/>
                          </a:solidFill>
                        </a:rPr>
                        <a:t>R12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LSTM-driven task merging for intermittent computing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Device-level; INTERFOG operates at the fog orchestration layer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3A4A"/>
                          </a:solidFill>
                        </a:rPr>
                        <a:t>R15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Compiler-level liveness-aware checkpoint optimization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A"/>
                          </a:solidFill>
                        </a:rPr>
                        <a:t>Program-level overhead reduction, not multi-node scheduling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matrix (R1–R20) spans EH-MEC offloading, QoS-aware placement, autonomous serverless scheduling, UAV-MEC, checkpointing, and batteryless design — detailed in the proposal document.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identified research gap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 edge/fog research now covers reliability, service placement, autonomous scheduler selection, renewable-energy prediction, and multi-objective offloading [R1–R14].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Intermittent-computing research separately provides mature checkpointing, persistent state, task merging, and adaptive execution [R7–R8, R12–R13, R15–R16, R19–R20].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defensible opportunity sits at the orchestration boundary: use a probabilistic model of future node availability to decide execute / wait / checkpoint / migrate / replicate / fall back.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1630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54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stated at the level of the decision mechanism and objective — not as a claim that the constituent technologies are individually unexplored.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1331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NOVELTY POSITION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3317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does not claim that energy harvesting + edge computing, reliability-aware offloading, or intermittent checkpointing is new.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contribution is a specific fog-level orchestration mechanism that models energy-driven node availability probabilistically and makes execution / checkpoint / migration decisions using predicted task-completion probability under future power-interruption risk.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22405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objectives, from signal to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73352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00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energy-state representation from battery, harvesting rate, workload, and power-cycle history.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673352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1600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future node availability via Markov model, survival model, or calibrated hazard function.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889504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81635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probability a task completes before the selected node becomes unavailable.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55080" y="2724912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2889504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81635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scheduler choosing among execution, delay, checkpoint-and-migrate, replication, cloud fallback.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105656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03250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deadline, energy demand, latency, checkpoint overhead, migration cost, and criticality.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55080" y="3941064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4105656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9672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68312" y="403250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reproducible fog testbed with virtualized nodes and controlled energy traces.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157216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321808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24865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latency-based, resource-aware, energy-aware, and reliability-aware baselines.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355080" y="5157216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BF0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519672" y="5321808"/>
            <a:ext cx="402336" cy="402336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19672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68312" y="524865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completion probability, failures, deadline violations, latency, migrations, energy, recovery time.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NOVELTY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node condition to survival probability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novelty: shift from “current node condition” to “probability of remaining operational long enough to finish the task.” A scheduler can reject a node that looks attractive now if its future energy trajectory makes completion unlikely.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0F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AVAILABILITY MODEL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Aⱼ(t,τ) = 1 | Eⱼ(t), Hⱼ(t:t+τ), Wⱼ(t), Nⱼ(t) 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Aⱼ(t,τ): node j stays operational through [t, t+τ]  ·  E: stored energy  ·  H: harvested-energy behavior  ·  W: workload/resource state  ·  N: network conditions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F25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OBJECTIVE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αPᴄ − βL − γE − δM − εC − ζV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Pᴄ: completion probability  ·  L: latency  ·  E: energy  ·  M: migration cost  ·  C: checkpoint overhead  ·  V: deadline/SLA violation penalty. Weights are an experimental design parameter, sensitivity-tested.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novelty is defensible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109728" cy="109728"/>
          </a:xfrm>
          <a:prstGeom prst="ellipse">
            <a:avLst/>
          </a:prstGeom>
          <a:solidFill>
            <a:srgbClr val="B87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Constituent areas are established — no reliance on “nobody has done EH at the edge.”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928616"/>
            <a:ext cx="109728" cy="109728"/>
          </a:xfrm>
          <a:prstGeom prst="ellipse">
            <a:avLst/>
          </a:prstGeom>
          <a:solidFill>
            <a:srgbClr val="B878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Evaluable quantitatively using the same workloads and energy traces across schedulers.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641848"/>
            <a:ext cx="109728" cy="109728"/>
          </a:xfrm>
          <a:prstGeom prst="ellipse">
            <a:avLst/>
          </a:prstGeom>
          <a:solidFill>
            <a:srgbClr val="B878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5138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is operational and testable: execute, another node, checkpoint, migrate, replicate, delay, or fall back.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5641848"/>
            <a:ext cx="109728" cy="109728"/>
          </a:xfrm>
          <a:prstGeom prst="ellipse">
            <a:avLst/>
          </a:prstGeom>
          <a:solidFill>
            <a:srgbClr val="B878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55138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supports an ablation study isolating availability modeling from prediction and checkpointing.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one continuous feedback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0F25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550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Energy-state modeling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SoC, harvesting rate, consumption rate, storage capacity, outage threshold — real traces where possible, synthetic for controlled experiments.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0F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550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estimation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chains, HMMs, survival analysis, hazard-rate estimation, or a learned probabilistic predictor — selected via validation experiments.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0F25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6550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characterization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time, CPU/memory demand, energy requirement, I/O size, deadline, criticality; long tasks carry checkpointable state.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BF0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97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strategy evaluation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execution, alternative-node execution, checkpoint-and-migrate, replication, delay, cloud fallback — each scored comparably.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BF0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297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and migration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containers; low-overhead checkpoint storage; checkpoint-and-migrate triggers when completion probability drops below threshold.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BF0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297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and calibration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006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prediction, action, actual trajectory, actual completion, recovery cost — calibrate probabilities and quantify prediction error.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scenarios stress-test the mechanism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35240" cy="4434840"/>
        </p:xfrm>
        <a:graphic>
          <a:graphicData uri="http://schemas.openxmlformats.org/drawingml/2006/table">
            <a:tbl>
              <a:tblPr/>
              <a:tblGrid>
                <a:gridCol w="594360"/>
                <a:gridCol w="1691640"/>
                <a:gridCol w="2468880"/>
                <a:gridCol w="288036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S1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Stable harvesting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Moderate battery, predictable energy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Baseline overhead and normal-case QoS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S2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Energy drought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Sharp drop in harvested energy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Does the scheduler avoid likely-to-fail nodes?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S3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Workload spike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Rapid growth in task arrival rate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Workload pressure vs. energy risk interaction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S4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Repeated interruption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Multiple node outages mid-execution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Checkpoint/migration effectiveness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S5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Heterogeneous fog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Mixed batteries, harvesters, CPUs, links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Generality and fairness of scheduling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S6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Prediction uncertainty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Noisy or imperfect energy forecasts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Robustness when the predictor is wrong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S7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4A"/>
                          </a:solidFill>
                        </a:rPr>
                        <a:t>Deadline-critical mix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Mixed short/long, critical/non-critical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A"/>
                          </a:solidFill>
                        </a:rPr>
                        <a:t>Completion probability vs. deadline balance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0876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EBF0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COMPARED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1031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Latency-only scheduler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Current-resource scheduler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Residual-energy-aware scheduler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Reliability-constrained scheduler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simple heuristic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INTERFOG scheduler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metrics across reliability, cost, and speed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331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66928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1460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probability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337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failure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1605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violation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98348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834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calibration / error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331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737360"/>
            <a:ext cx="3611880" cy="566928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1737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25146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00600" y="251460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33756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337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416052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41605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Fog-node utilization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98348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49834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decision overhead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331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737360"/>
            <a:ext cx="3611880" cy="566928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0" y="1737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RECOVERY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58200" y="25146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41080" y="251460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58200" y="333756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41080" y="3337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migrations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58200" y="416052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41080" y="41605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overhead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58200" y="498348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0F254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41080" y="49834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22405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deliverables by end of the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63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of a distributed fog orchestrator for energy-uncertain nodes.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76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stochastic node-availability model with documented assumptions and calibration.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88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whose decisions are explainable via completion probability and system cost.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01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checkpoint-and-migrate mechanism for long-running tasks.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14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suite with repeatable workload and energy scenarios.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25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26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 against multiple baseline policies.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2760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B1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395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research-paper-ready formulation of problem, algorithm, methodology, and novelty claim.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IMPLEMENTATION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Achievable with student-level infrastructure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75488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46304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Kubernetes/K3s · Linux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6583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385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3852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· optional gRPC/REST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6583680" cy="475488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4140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14016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89504"/>
            <a:ext cx="6583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895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889504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 · pandas · scikit-learn · optional PyTorch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6583680" cy="475488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64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364992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/ Redis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6583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840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data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84048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EH traces where available · controlled synthetic traces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6583680" cy="475488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315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(optional)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431596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· low-power MCU · EH demonstrator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91456"/>
            <a:ext cx="6583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7914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control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4791456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constraints · process suspension · network emulation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14630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0F25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266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STRATEGY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large physical fog laboratory is required.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25603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10–50 heterogeneous fog nodes using containers, then connect one or more real low-power devices for demonstration.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“Power loss” is represented in the emulator via an energy trace or a calibrated outage process — preserving research realism while keeping the project achievable.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HYPOTHESES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four testable hypotheses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EBF0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8366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future energy state be converted into a useful probabilistic estimate of fog-node availability?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EBF0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07792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6265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completion-probability scheduling reduce task failures under intermittent power vs. current-state scheduling?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86784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EBF0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986784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416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checkpoint-and-migrate outperform immediate migration, delay, or cloud fallback?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EBF0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5065776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sensitive is the scheduler to forecast error, checkpoint overhead, and migration latency?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0F25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1828800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88366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availability-aware scheduling increases completion probability vs. latency-only and current-resource baselines.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907792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0F25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2907792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96265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checkpoint-and-migrate reduces deadline violations for long-running tasks under high outage probability.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986784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0F25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3986784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0416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Completion-probability-aware scheduling reduces unnecessary migrations vs. a fixed energy-threshold policy.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5065776"/>
            <a:ext cx="5394960" cy="932688"/>
          </a:xfrm>
          <a:prstGeom prst="roundRect">
            <a:avLst>
              <a:gd name="adj" fmla="val 5882"/>
            </a:avLst>
          </a:prstGeom>
          <a:solidFill>
            <a:srgbClr val="0F25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28232" y="5065776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 remains measurable under imperfect forecasts, provided the probability model is calibrated.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· PROJECT REVIEW 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10973"/>
          </a:xfrm>
          <a:prstGeom prst="rect">
            <a:avLst/>
          </a:prstGeom>
          <a:solidFill>
            <a:srgbClr val="DCE4E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6172200"/>
            <a:ext cx="475488" cy="-219456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172200"/>
            <a:ext cx="475488" cy="256032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8528" y="5952744"/>
            <a:ext cx="512064" cy="256032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6428232"/>
            <a:ext cx="512064" cy="-219456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5952744"/>
            <a:ext cx="475488" cy="-18288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6428232"/>
            <a:ext cx="-402336" cy="256032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6172200"/>
            <a:ext cx="-438912" cy="18288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6025896"/>
            <a:ext cx="292608" cy="292608"/>
          </a:xfrm>
          <a:prstGeom prst="ellipse">
            <a:avLst/>
          </a:prstGeom>
          <a:solidFill>
            <a:srgbClr val="FFB100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6232" y="5870448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6345936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68296" y="6126480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5687568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6601968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" y="627278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0" y="1463040"/>
            <a:ext cx="594360" cy="-27432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1463040"/>
            <a:ext cx="59436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18520" y="1188720"/>
            <a:ext cx="64008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1783080"/>
            <a:ext cx="640080" cy="-27432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18520" y="1188720"/>
            <a:ext cx="594360" cy="-22860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1783080"/>
            <a:ext cx="-502920" cy="32004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1463040"/>
            <a:ext cx="-548640" cy="228600"/>
          </a:xfrm>
          <a:prstGeom prst="line">
            <a:avLst/>
          </a:prstGeom>
          <a:noFill/>
          <a:ln w="15875">
            <a:solidFill>
              <a:srgbClr val="2747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77856" y="1316736"/>
            <a:ext cx="292608" cy="292608"/>
          </a:xfrm>
          <a:prstGeom prst="ellipse">
            <a:avLst/>
          </a:prstGeom>
          <a:solidFill>
            <a:srgbClr val="5B84A6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36224" y="11064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36224" y="170078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76304" y="142646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30584" y="8778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33304" y="202082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93224" y="1609344"/>
            <a:ext cx="164592" cy="164592"/>
          </a:xfrm>
          <a:prstGeom prst="ellipse">
            <a:avLst/>
          </a:prstGeom>
          <a:solidFill>
            <a:srgbClr val="3D6089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— Project Review 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8680" y="3886200"/>
            <a:ext cx="502920" cy="41148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INTERFOG — Stochastic Availability-Aware Fog Orchestration for Intermittently Powered Energy-Harvesting Nodes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2026-09-10T04:40:07Z</dcterms:created>
  <dcterms:modified xsi:type="dcterms:W3CDTF">2026-09-10T04:40:07Z</dcterms:modified>
</cp:coreProperties>
</file>